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Playfair Display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  <p:embeddedFont>
      <p:font typeface="Pacifico"/>
      <p:regular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layfairDisplay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-boldItalic.fntdata"/><Relationship Id="rId30" Type="http://schemas.openxmlformats.org/officeDocument/2006/relationships/font" Target="fonts/PlayfairDisplay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Pacifico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336b1da5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336b1da5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336b1da58b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336b1da58b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336b1da58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336b1da5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36b1da58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336b1da58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36b1da58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336b1da58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36b1da58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36b1da58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36b1da58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336b1da58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36b1da58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336b1da58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2d0130d2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32d0130d2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32d0130d2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32d0130d2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336b1da58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336b1da58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32d0130d2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32d0130d2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2d0130d2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2d0130d2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32d0130d2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32d0130d2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2d0130d2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32d0130d2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32d0130d2e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32d0130d2e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32d0130d2e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32d0130d2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32d0130d2e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32d0130d2e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32d0130d2e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32d0130d2e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336b1da58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336b1da58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32d0130d2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32d0130d2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32d0130d2e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32d0130d2e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lfcps.org/info/fig-bouncing-ball-dark-trace.png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/>
        </p:nvSpPr>
        <p:spPr>
          <a:xfrm>
            <a:off x="311700" y="1804075"/>
            <a:ext cx="8520600" cy="106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Under the guidance of</a:t>
            </a:r>
            <a:endParaRPr sz="24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Dr</a:t>
            </a:r>
            <a:r>
              <a:rPr b="1" lang="en" sz="24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. Purandar Bhaduri</a:t>
            </a:r>
            <a:endParaRPr b="1" sz="2400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Dept. of CSE, IIT Guwahati</a:t>
            </a:r>
            <a:endParaRPr sz="24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311700" y="190500"/>
            <a:ext cx="8520600" cy="13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36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Verification of Controllers for Advanced Driver Assistance Systems</a:t>
            </a:r>
            <a:endParaRPr b="1" sz="3600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324975" y="3095075"/>
            <a:ext cx="8389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34343"/>
                </a:solidFill>
              </a:rPr>
              <a:t>Presented by:</a:t>
            </a:r>
            <a:endParaRPr sz="1500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E2D31"/>
                </a:solidFill>
              </a:rPr>
              <a:t>Manish Semwal</a:t>
            </a:r>
            <a:r>
              <a:rPr lang="en" sz="1500">
                <a:solidFill>
                  <a:srgbClr val="434343"/>
                </a:solidFill>
              </a:rPr>
              <a:t> (204101032)</a:t>
            </a:r>
            <a:endParaRPr sz="1500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34343"/>
                </a:solidFill>
              </a:rPr>
              <a:t>M.Tech (CSE), IIT Guwahati</a:t>
            </a:r>
            <a:endParaRPr sz="1500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34343"/>
                </a:solidFill>
              </a:rPr>
              <a:t>June 10, 2022</a:t>
            </a:r>
            <a:endParaRPr sz="15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Motivation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According to The United States Department of Transportation (USDOT), the rise of driverless cars will lead to 90% fall of traffic deaths.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educed incidents caused by human errors, drugged driving, speeding and distractions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Helpful for people with disabilities.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Increased productivity.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500% increase in lane capacity</a:t>
            </a: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60% drop in harmful emissions.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40% reduction in travel time</a:t>
            </a: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10% improvement in fuel economy.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Problem Statement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11700" y="402487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425">
                <a:solidFill>
                  <a:srgbClr val="1E2D31"/>
                </a:solidFill>
              </a:rPr>
              <a:t>A multi-lane highway with several cars. The large rectangle shows the view of car A, i.e. the part of the environment visible to A[1].</a:t>
            </a:r>
            <a:endParaRPr sz="1425">
              <a:solidFill>
                <a:srgbClr val="1E2D31"/>
              </a:solidFill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610113" cy="27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 safety condition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Safety Envelop :</a:t>
            </a:r>
            <a:r>
              <a:rPr lang="en">
                <a:solidFill>
                  <a:srgbClr val="000000"/>
                </a:solidFill>
              </a:rPr>
              <a:t> A region around a vehicle in which no other vehicle should ever enter to guarantee safety. It is also known as Critical Zone.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Safety Distance : </a:t>
            </a:r>
            <a:r>
              <a:rPr lang="en">
                <a:solidFill>
                  <a:srgbClr val="000000"/>
                </a:solidFill>
              </a:rPr>
              <a:t>T</a:t>
            </a:r>
            <a:r>
              <a:rPr lang="en">
                <a:solidFill>
                  <a:srgbClr val="000000"/>
                </a:solidFill>
              </a:rPr>
              <a:t>he minimum distance a vehicle will travel if it applies brakes as hard as possible.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If the maximum possible deceleration of a vehicle is given by </a:t>
            </a:r>
            <a:r>
              <a:rPr i="1" lang="en">
                <a:solidFill>
                  <a:srgbClr val="000000"/>
                </a:solidFill>
              </a:rPr>
              <a:t>B</a:t>
            </a:r>
            <a:r>
              <a:rPr lang="en">
                <a:solidFill>
                  <a:srgbClr val="000000"/>
                </a:solidFill>
              </a:rPr>
              <a:t> and the current velocity of the vehicle is </a:t>
            </a:r>
            <a:r>
              <a:rPr i="1" lang="en">
                <a:solidFill>
                  <a:srgbClr val="000000"/>
                </a:solidFill>
              </a:rPr>
              <a:t>v. </a:t>
            </a:r>
            <a:r>
              <a:rPr lang="en">
                <a:solidFill>
                  <a:srgbClr val="000000"/>
                </a:solidFill>
              </a:rPr>
              <a:t>Then the safety distance </a:t>
            </a:r>
            <a:r>
              <a:rPr i="1" lang="en">
                <a:solidFill>
                  <a:srgbClr val="000000"/>
                </a:solidFill>
              </a:rPr>
              <a:t>sd </a:t>
            </a:r>
            <a:r>
              <a:rPr lang="en">
                <a:solidFill>
                  <a:srgbClr val="000000"/>
                </a:solidFill>
              </a:rPr>
              <a:t>is given by the formula :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6400" y="3805225"/>
            <a:ext cx="1945225" cy="4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2"/>
                </a:solidFill>
              </a:rPr>
              <a:t>res</a:t>
            </a:r>
            <a:r>
              <a:rPr lang="en">
                <a:solidFill>
                  <a:schemeClr val="dk2"/>
                </a:solidFill>
              </a:rPr>
              <a:t>: The set of reserved lanes. It has at most two elements, the current lane </a:t>
            </a:r>
            <a:r>
              <a:rPr i="1" lang="en">
                <a:solidFill>
                  <a:schemeClr val="dk2"/>
                </a:solidFill>
              </a:rPr>
              <a:t>n</a:t>
            </a:r>
            <a:r>
              <a:rPr lang="en">
                <a:solidFill>
                  <a:schemeClr val="dk2"/>
                </a:solidFill>
              </a:rPr>
              <a:t>, and possibly an adjacent lane </a:t>
            </a:r>
            <a:r>
              <a:rPr i="1" lang="en">
                <a:solidFill>
                  <a:schemeClr val="dk2"/>
                </a:solidFill>
              </a:rPr>
              <a:t>m</a:t>
            </a:r>
            <a:r>
              <a:rPr lang="en">
                <a:solidFill>
                  <a:schemeClr val="dk2"/>
                </a:solidFill>
              </a:rPr>
              <a:t> to which the car wants to move.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1E2D31"/>
                </a:solidFill>
              </a:rPr>
              <a:t>The dangerous situation of a collision is formalized by the following condition</a:t>
            </a:r>
            <a:r>
              <a:rPr lang="en">
                <a:solidFill>
                  <a:srgbClr val="1E2D31"/>
                </a:solidFill>
              </a:rPr>
              <a:t>:</a:t>
            </a:r>
            <a:endParaRPr>
              <a:solidFill>
                <a:srgbClr val="1E2D31"/>
              </a:solidFill>
            </a:endParaRPr>
          </a:p>
        </p:txBody>
      </p:sp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The safety condition</a:t>
            </a:r>
            <a:endParaRPr>
              <a:solidFill>
                <a:srgbClr val="1E2D31"/>
              </a:solidFill>
            </a:endParaRPr>
          </a:p>
        </p:txBody>
      </p:sp>
      <p:pic>
        <p:nvPicPr>
          <p:cNvPr descr="\begin{equation}&#10;     col = \exists c_{1},c_{2}:(c_{1} \neq c_{2} \land ( c_{1}.res \cap c_{2}.res \neq \phi ) \land safetyOverlap(c_{1},c_{2}))&#10; \end{equation}" id="97" name="Google Shape;97;p1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900" y="2746175"/>
            <a:ext cx="7043874" cy="27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    \begin{aligned}&#10;    safetyOverlap(c_{1},c_{2})=&amp;(c_{1}.pos \leq c_{2}.pos \leq c_{1}.pos+c_{1}.sd)\\&#10;    &amp;\lor(c_{2}.pos \leq c_{1}.pos \leq c_{2}.pos+c_{2}.sd)&#10;  \end{aligned}&#10; \end{equation}" id="98" name="Google Shape;98;p17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900" y="3286150"/>
            <a:ext cx="6019624" cy="5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    safe \equiv \neg col = \forall c_{1},c_{2}:(c_{1} = c_{2} \lor ( c_{1}.res \cap c_{2}.res = \phi ) \lor \neg safetyOverlap(c_{1},c_{2}))&#10; \end{equation}" id="99" name="Google Shape;99;p17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900" y="4170000"/>
            <a:ext cx="7525926" cy="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Modelling dynamic behavior of a car</a:t>
            </a:r>
            <a:endParaRPr>
              <a:solidFill>
                <a:srgbClr val="1E2D31"/>
              </a:solidFill>
            </a:endParaRPr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417800"/>
            <a:ext cx="8520600" cy="30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2"/>
                </a:solidFill>
              </a:rPr>
              <a:t>res</a:t>
            </a:r>
            <a:r>
              <a:rPr lang="en">
                <a:solidFill>
                  <a:schemeClr val="dk2"/>
                </a:solidFill>
              </a:rPr>
              <a:t>: The set of reserved lanes. It has at most two elements, the current lane </a:t>
            </a:r>
            <a:r>
              <a:rPr i="1" lang="en">
                <a:solidFill>
                  <a:schemeClr val="dk2"/>
                </a:solidFill>
              </a:rPr>
              <a:t>n</a:t>
            </a:r>
            <a:r>
              <a:rPr lang="en">
                <a:solidFill>
                  <a:schemeClr val="dk2"/>
                </a:solidFill>
              </a:rPr>
              <a:t>, and possibly an adjacent lane </a:t>
            </a:r>
            <a:r>
              <a:rPr i="1" lang="en">
                <a:solidFill>
                  <a:schemeClr val="dk2"/>
                </a:solidFill>
              </a:rPr>
              <a:t>m</a:t>
            </a:r>
            <a:r>
              <a:rPr lang="en">
                <a:solidFill>
                  <a:schemeClr val="dk2"/>
                </a:solidFill>
              </a:rPr>
              <a:t> to which the car wants to move.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>
                <a:solidFill>
                  <a:schemeClr val="dk2"/>
                </a:solidFill>
              </a:rPr>
              <a:t>clm</a:t>
            </a:r>
            <a:r>
              <a:rPr lang="en">
                <a:solidFill>
                  <a:schemeClr val="dk2"/>
                </a:solidFill>
              </a:rPr>
              <a:t>: The set of claimed lanes. It has at most one element. The claimed element must be a lane adjacent to the current lane n.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Modelling dynamic behavior of a car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To describe the dynamic behavior of a car during lane change, the following interactions are introduced: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2D31"/>
                </a:solidFill>
              </a:rPr>
              <a:t>• c(m):</a:t>
            </a:r>
            <a:r>
              <a:rPr lang="en">
                <a:solidFill>
                  <a:srgbClr val="1E2D31"/>
                </a:solidFill>
              </a:rPr>
              <a:t> Introduce a claim for lane m.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2D31"/>
                </a:solidFill>
              </a:rPr>
              <a:t>• wd − c(m):</a:t>
            </a:r>
            <a:r>
              <a:rPr lang="en">
                <a:solidFill>
                  <a:srgbClr val="1E2D31"/>
                </a:solidFill>
              </a:rPr>
              <a:t> Withdraw the claim for lane m.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2D31"/>
                </a:solidFill>
              </a:rPr>
              <a:t>• r(m):</a:t>
            </a:r>
            <a:r>
              <a:rPr lang="en">
                <a:solidFill>
                  <a:srgbClr val="1E2D31"/>
                </a:solidFill>
              </a:rPr>
              <a:t> Change a claim for lane m into a reservation for lane m.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2D31"/>
                </a:solidFill>
              </a:rPr>
              <a:t>• wd − r(m):</a:t>
            </a:r>
            <a:r>
              <a:rPr lang="en">
                <a:solidFill>
                  <a:srgbClr val="1E2D31"/>
                </a:solidFill>
              </a:rPr>
              <a:t> Withdraw the reservation for lane m.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Modelling the dynamic behavior of a car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Let the notation </a:t>
            </a:r>
            <a:r>
              <a:rPr i="1" lang="en">
                <a:solidFill>
                  <a:srgbClr val="1E2D31"/>
                </a:solidFill>
              </a:rPr>
              <a:t>A.qRC</a:t>
            </a:r>
            <a:r>
              <a:rPr lang="en">
                <a:solidFill>
                  <a:srgbClr val="1E2D31"/>
                </a:solidFill>
              </a:rPr>
              <a:t> means that the car A is in some control state q, it has reserved the lanes in the set R, and it claims the lanes in the set C.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D3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1E2D31"/>
                </a:solidFill>
              </a:rPr>
              <a:t>Behavior of a car A changing from its current lane n to a neighboring target lane m is either </a:t>
            </a:r>
            <a:r>
              <a:rPr i="1" lang="en" sz="1400">
                <a:solidFill>
                  <a:srgbClr val="1E2D31"/>
                </a:solidFill>
              </a:rPr>
              <a:t>n − 1</a:t>
            </a:r>
            <a:r>
              <a:rPr lang="en" sz="1400">
                <a:solidFill>
                  <a:srgbClr val="1E2D31"/>
                </a:solidFill>
              </a:rPr>
              <a:t> or </a:t>
            </a:r>
            <a:r>
              <a:rPr i="1" lang="en" sz="1400">
                <a:solidFill>
                  <a:srgbClr val="1E2D31"/>
                </a:solidFill>
              </a:rPr>
              <a:t>n + 1</a:t>
            </a:r>
            <a:r>
              <a:rPr lang="en" sz="1400">
                <a:solidFill>
                  <a:srgbClr val="1E2D31"/>
                </a:solidFill>
              </a:rPr>
              <a:t>: </a:t>
            </a:r>
            <a:r>
              <a:rPr b="1" lang="en" sz="1400">
                <a:solidFill>
                  <a:srgbClr val="1E2D31"/>
                </a:solidFill>
              </a:rPr>
              <a:t>(a)</a:t>
            </a:r>
            <a:r>
              <a:rPr lang="en" sz="1400">
                <a:solidFill>
                  <a:srgbClr val="1E2D31"/>
                </a:solidFill>
              </a:rPr>
              <a:t> simple algorithm, </a:t>
            </a:r>
            <a:r>
              <a:rPr b="1" lang="en" sz="1400">
                <a:solidFill>
                  <a:srgbClr val="1E2D31"/>
                </a:solidFill>
              </a:rPr>
              <a:t>(b)</a:t>
            </a:r>
            <a:r>
              <a:rPr lang="en" sz="1400">
                <a:solidFill>
                  <a:srgbClr val="1E2D31"/>
                </a:solidFill>
              </a:rPr>
              <a:t> protocol with a claim transition c(m)[1].</a:t>
            </a:r>
            <a:endParaRPr sz="1400">
              <a:solidFill>
                <a:srgbClr val="1E2D31"/>
              </a:solidFill>
            </a:endParaRPr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200" y="2198875"/>
            <a:ext cx="7545599" cy="15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103250"/>
            <a:ext cx="85206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KeYmaera X : a tool for the verification of hybrid systems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D31"/>
              </a:solidFill>
            </a:endParaRPr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267550"/>
            <a:ext cx="8520600" cy="3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2D31"/>
                </a:solidFill>
              </a:rPr>
              <a:t>Hybrid programs:</a:t>
            </a:r>
            <a:r>
              <a:rPr lang="en">
                <a:solidFill>
                  <a:srgbClr val="1E2D31"/>
                </a:solidFill>
              </a:rPr>
              <a:t> Programs that involve continuous evolution as well as conventional discrete programs. They can be defined by following grammar: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• α and β are the hybrid programs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• x is a variable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• x′ represents time derivative of variable x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• f(x) is a function of x that evolves with time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• Q is the evolution domain constraint, which is given by a First-Order Logic formula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1E2D31"/>
                </a:solidFill>
              </a:rPr>
              <a:t>• x′ = f(x)&amp;Q means that the differential equation x′ = f(x) can only evolve till it satisfies the evolution domain constraint Q</a:t>
            </a:r>
            <a:endParaRPr>
              <a:solidFill>
                <a:srgbClr val="1E2D31"/>
              </a:solidFill>
            </a:endParaRPr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901700"/>
            <a:ext cx="6010435" cy="2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Hybrid programs</a:t>
            </a:r>
            <a:endParaRPr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4001675"/>
            <a:ext cx="85206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1E2D31"/>
                </a:solidFill>
              </a:rPr>
              <a:t>Statements of hybrid programs (F is a first-order formula, α, β are hybrid programs)</a:t>
            </a:r>
            <a:endParaRPr sz="1400">
              <a:solidFill>
                <a:srgbClr val="1E2D31"/>
              </a:solidFill>
            </a:endParaRPr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50" y="1417075"/>
            <a:ext cx="8925752" cy="252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156325"/>
            <a:ext cx="8520600" cy="8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Differential dynamic logic (dL)</a:t>
            </a:r>
            <a:endParaRPr>
              <a:solidFill>
                <a:srgbClr val="1E2D31"/>
              </a:solidFill>
            </a:endParaRPr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2D31"/>
                </a:solidFill>
              </a:rPr>
              <a:t>Differential dynamic logic (dL) :</a:t>
            </a:r>
            <a:r>
              <a:rPr lang="en">
                <a:solidFill>
                  <a:srgbClr val="1E2D31"/>
                </a:solidFill>
              </a:rPr>
              <a:t>  A logic for specifying and verifying hybrid systems.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dL can be defined by following grammar :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• </a:t>
            </a:r>
            <a:r>
              <a:rPr lang="en">
                <a:solidFill>
                  <a:srgbClr val="1E2D31"/>
                </a:solidFill>
              </a:rPr>
              <a:t>P and Q are dL formulas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•</a:t>
            </a:r>
            <a:r>
              <a:rPr lang="en">
                <a:solidFill>
                  <a:srgbClr val="1E2D31"/>
                </a:solidFill>
              </a:rPr>
              <a:t> e and  ̃e are polynomial terms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• </a:t>
            </a:r>
            <a:r>
              <a:rPr i="1" lang="en">
                <a:solidFill>
                  <a:srgbClr val="1E2D31"/>
                </a:solidFill>
                <a:latin typeface="Pacifico"/>
                <a:ea typeface="Pacifico"/>
                <a:cs typeface="Pacifico"/>
                <a:sym typeface="Pacifico"/>
              </a:rPr>
              <a:t>x</a:t>
            </a:r>
            <a:r>
              <a:rPr lang="en">
                <a:solidFill>
                  <a:srgbClr val="1E2D31"/>
                </a:solidFill>
              </a:rPr>
              <a:t> is a variable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• box and diamond operator are the modal operators.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E2D31"/>
              </a:solidFill>
            </a:endParaRPr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2435100"/>
            <a:ext cx="8507080" cy="2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Differential dynamic logic (dL)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11700" y="4272175"/>
            <a:ext cx="85206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1E2D31"/>
                </a:solidFill>
              </a:rPr>
              <a:t>Operators and (informal) meaning in differential dynamic logic (dL) </a:t>
            </a:r>
            <a:endParaRPr sz="1400">
              <a:solidFill>
                <a:srgbClr val="1E2D31"/>
              </a:solidFill>
            </a:endParaRPr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25" y="1353125"/>
            <a:ext cx="8986875" cy="27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KeYmaera </a:t>
            </a:r>
            <a:r>
              <a:rPr lang="en">
                <a:solidFill>
                  <a:srgbClr val="1E2D31"/>
                </a:solidFill>
              </a:rPr>
              <a:t>X</a:t>
            </a:r>
            <a:endParaRPr>
              <a:solidFill>
                <a:srgbClr val="1E2D31"/>
              </a:solidFill>
            </a:endParaRPr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311700" y="12361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The input to KeYmaera X is a dL formula of the form :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2D31"/>
                </a:solidFill>
              </a:rPr>
              <a:t>• init</a:t>
            </a:r>
            <a:r>
              <a:rPr lang="en">
                <a:solidFill>
                  <a:srgbClr val="1E2D31"/>
                </a:solidFill>
              </a:rPr>
              <a:t> : It is the set of initial conditions for the system.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2D31"/>
                </a:solidFill>
              </a:rPr>
              <a:t>• {ctrl; plant}</a:t>
            </a:r>
            <a:r>
              <a:rPr lang="en">
                <a:solidFill>
                  <a:srgbClr val="1E2D31"/>
                </a:solidFill>
              </a:rPr>
              <a:t> : It is a hybrid program where </a:t>
            </a:r>
            <a:r>
              <a:rPr i="1" lang="en">
                <a:solidFill>
                  <a:srgbClr val="1E2D31"/>
                </a:solidFill>
              </a:rPr>
              <a:t>ctrl</a:t>
            </a:r>
            <a:r>
              <a:rPr lang="en">
                <a:solidFill>
                  <a:srgbClr val="1E2D31"/>
                </a:solidFill>
              </a:rPr>
              <a:t> represents the discrete dynamics and the </a:t>
            </a:r>
            <a:r>
              <a:rPr i="1" lang="en">
                <a:solidFill>
                  <a:srgbClr val="1E2D31"/>
                </a:solidFill>
              </a:rPr>
              <a:t>plant</a:t>
            </a:r>
            <a:r>
              <a:rPr lang="en">
                <a:solidFill>
                  <a:srgbClr val="1E2D31"/>
                </a:solidFill>
              </a:rPr>
              <a:t> represents the continuous dynamics. </a:t>
            </a:r>
            <a:r>
              <a:rPr b="1" lang="en">
                <a:solidFill>
                  <a:srgbClr val="1E2D31"/>
                </a:solidFill>
              </a:rPr>
              <a:t>;</a:t>
            </a:r>
            <a:r>
              <a:rPr lang="en">
                <a:solidFill>
                  <a:srgbClr val="1E2D31"/>
                </a:solidFill>
              </a:rPr>
              <a:t> is the sequential composition operator.</a:t>
            </a:r>
            <a:r>
              <a:rPr b="1" lang="en">
                <a:solidFill>
                  <a:srgbClr val="1E2D31"/>
                </a:solidFill>
              </a:rPr>
              <a:t>∗</a:t>
            </a:r>
            <a:r>
              <a:rPr lang="en">
                <a:solidFill>
                  <a:srgbClr val="1E2D31"/>
                </a:solidFill>
              </a:rPr>
              <a:t> is the non-deterministic repetition operator.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1E2D31"/>
                </a:solidFill>
              </a:rPr>
              <a:t>• safe</a:t>
            </a:r>
            <a:r>
              <a:rPr lang="en">
                <a:solidFill>
                  <a:srgbClr val="1E2D31"/>
                </a:solidFill>
              </a:rPr>
              <a:t> : It is the set of safety conditions that should be true at all times for the system to be safe, it is also called post-condition.</a:t>
            </a:r>
            <a:endParaRPr>
              <a:solidFill>
                <a:srgbClr val="1E2D31"/>
              </a:solidFill>
            </a:endParaRPr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1750" y="1759500"/>
            <a:ext cx="4259049" cy="35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KeYmaera X</a:t>
            </a:r>
            <a:endParaRPr/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311700" y="1309450"/>
            <a:ext cx="8520600" cy="3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1E2D31"/>
                </a:solidFill>
              </a:rPr>
              <a:t>The motion of a bouncing ball can be verified by the</a:t>
            </a:r>
            <a:br>
              <a:rPr lang="en">
                <a:solidFill>
                  <a:srgbClr val="1E2D31"/>
                </a:solidFill>
              </a:rPr>
            </a:br>
            <a:r>
              <a:rPr lang="en">
                <a:solidFill>
                  <a:srgbClr val="1E2D31"/>
                </a:solidFill>
              </a:rPr>
              <a:t>following model:</a:t>
            </a:r>
            <a:endParaRPr>
              <a:solidFill>
                <a:srgbClr val="1E2D31"/>
              </a:solidFill>
            </a:endParaRPr>
          </a:p>
        </p:txBody>
      </p:sp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9825" y="89632"/>
            <a:ext cx="2202475" cy="2480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3075" y="2303475"/>
            <a:ext cx="4153050" cy="34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400" y="2968450"/>
            <a:ext cx="7374172" cy="27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475" y="3681475"/>
            <a:ext cx="3711887" cy="27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0300" y="3320125"/>
            <a:ext cx="4767780" cy="27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7890" y="4082119"/>
            <a:ext cx="2881708" cy="27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6"/>
          <p:cNvSpPr txBox="1"/>
          <p:nvPr/>
        </p:nvSpPr>
        <p:spPr>
          <a:xfrm>
            <a:off x="6553625" y="2502700"/>
            <a:ext cx="235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 bouncing ball behavior[2]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KeYmaera X</a:t>
            </a:r>
            <a:endParaRPr/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311700" y="1323425"/>
            <a:ext cx="8520600" cy="32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1E2D31"/>
                </a:solidFill>
              </a:rPr>
              <a:t>The safety of a car moving forward in a straight-line can be verified using following model:</a:t>
            </a:r>
            <a:endParaRPr>
              <a:solidFill>
                <a:srgbClr val="1E2D31"/>
              </a:solidFill>
            </a:endParaRPr>
          </a:p>
        </p:txBody>
      </p:sp>
      <p:pic>
        <p:nvPicPr>
          <p:cNvPr id="173" name="Google Shape;17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2275" y="1998675"/>
            <a:ext cx="4265472" cy="35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825" y="2734950"/>
            <a:ext cx="4413374" cy="2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5750" y="3189520"/>
            <a:ext cx="5170099" cy="267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300" y="3651261"/>
            <a:ext cx="4413377" cy="3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3350" y="4134525"/>
            <a:ext cx="2188655" cy="35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Considerations</a:t>
            </a:r>
            <a:endParaRPr>
              <a:solidFill>
                <a:srgbClr val="1E2D31"/>
              </a:solidFill>
            </a:endParaRPr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311700" y="3551225"/>
            <a:ext cx="85206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1E2D31"/>
                </a:solidFill>
              </a:rPr>
              <a:t>x</a:t>
            </a:r>
            <a:r>
              <a:rPr i="1" lang="en">
                <a:solidFill>
                  <a:srgbClr val="1E2D31"/>
                </a:solidFill>
              </a:rPr>
              <a:t>i, vi, ai, li</a:t>
            </a:r>
            <a:r>
              <a:rPr lang="en">
                <a:solidFill>
                  <a:srgbClr val="1E2D31"/>
                </a:solidFill>
              </a:rPr>
              <a:t> are the current position, velocity, </a:t>
            </a:r>
            <a:r>
              <a:rPr lang="en">
                <a:solidFill>
                  <a:srgbClr val="1E2D31"/>
                </a:solidFill>
              </a:rPr>
              <a:t>acceleration</a:t>
            </a:r>
            <a:r>
              <a:rPr lang="en">
                <a:solidFill>
                  <a:srgbClr val="1E2D31"/>
                </a:solidFill>
              </a:rPr>
              <a:t> and lane number of vehicle </a:t>
            </a:r>
            <a:r>
              <a:rPr i="1" lang="en">
                <a:solidFill>
                  <a:srgbClr val="1E2D31"/>
                </a:solidFill>
              </a:rPr>
              <a:t>i</a:t>
            </a:r>
            <a:r>
              <a:rPr lang="en">
                <a:solidFill>
                  <a:srgbClr val="1E2D31"/>
                </a:solidFill>
              </a:rPr>
              <a:t>.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1E2D31"/>
                </a:solidFill>
              </a:rPr>
              <a:t>Safety</a:t>
            </a:r>
            <a:r>
              <a:rPr lang="en">
                <a:solidFill>
                  <a:srgbClr val="1E2D31"/>
                </a:solidFill>
              </a:rPr>
              <a:t> distance </a:t>
            </a:r>
            <a:r>
              <a:rPr i="1" lang="en">
                <a:solidFill>
                  <a:srgbClr val="1E2D31"/>
                </a:solidFill>
              </a:rPr>
              <a:t>sd</a:t>
            </a:r>
            <a:r>
              <a:rPr lang="en">
                <a:solidFill>
                  <a:srgbClr val="1E2D31"/>
                </a:solidFill>
              </a:rPr>
              <a:t> is de</a:t>
            </a:r>
            <a:r>
              <a:rPr lang="en">
                <a:solidFill>
                  <a:srgbClr val="1E2D31"/>
                </a:solidFill>
              </a:rPr>
              <a:t>fined as : </a:t>
            </a:r>
            <a:endParaRPr>
              <a:solidFill>
                <a:srgbClr val="1E2D31"/>
              </a:solidFill>
            </a:endParaRPr>
          </a:p>
        </p:txBody>
      </p:sp>
      <p:pic>
        <p:nvPicPr>
          <p:cNvPr id="184" name="Google Shape;1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025" y="1164600"/>
            <a:ext cx="6356376" cy="22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6949" y="4024425"/>
            <a:ext cx="1503351" cy="3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850" y="0"/>
            <a:ext cx="591629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887" y="0"/>
            <a:ext cx="609422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62" y="0"/>
            <a:ext cx="90246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References:</a:t>
            </a:r>
            <a:endParaRPr>
              <a:solidFill>
                <a:srgbClr val="1E2D31"/>
              </a:solidFill>
            </a:endParaRPr>
          </a:p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D31"/>
                </a:solidFill>
              </a:rPr>
              <a:t>[1] G.V. Bochmann, M. Hilscher, S. Linker, and E.R. Olderog. Synthesizing and verifying controllers for multi-lane traffic maneuvers. Form Asp Comp 29, page 583–600, 2017.</a:t>
            </a:r>
            <a:endParaRPr>
              <a:solidFill>
                <a:srgbClr val="1E2D3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1E2D31"/>
                </a:solidFill>
              </a:rPr>
              <a:t>[2] </a:t>
            </a:r>
            <a:r>
              <a:rPr lang="en" u="sng">
                <a:solidFill>
                  <a:schemeClr val="hlink"/>
                </a:solidFill>
                <a:hlinkClick r:id="rId3"/>
              </a:rPr>
              <a:t>lfcps.org/info/fig-bouncing-ball-dark-trace.png</a:t>
            </a:r>
            <a:endParaRPr>
              <a:solidFill>
                <a:srgbClr val="1E2D3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3"/>
          <p:cNvSpPr txBox="1"/>
          <p:nvPr>
            <p:ph idx="1" type="body"/>
          </p:nvPr>
        </p:nvSpPr>
        <p:spPr>
          <a:xfrm>
            <a:off x="311700" y="372725"/>
            <a:ext cx="8520600" cy="419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7000">
                <a:solidFill>
                  <a:schemeClr val="dk2"/>
                </a:solidFill>
              </a:rPr>
              <a:t>Thank You!</a:t>
            </a:r>
            <a:endParaRPr sz="7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311700" y="422375"/>
            <a:ext cx="8520600" cy="41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7000">
                <a:solidFill>
                  <a:schemeClr val="dk2"/>
                </a:solidFill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